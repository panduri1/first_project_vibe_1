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" y="502920"/>
            <a:ext cx="658368" cy="65836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A50034"/>
                </a:solidFill>
              </a:rPr>
              <a:t>LG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760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Machine Predictive
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D3DB"/>
                </a:solidFill>
                <a:latin typeface="Arial"/>
              </a:rPr>
              <a:t>설비 센서 기반 고장 예측 모델링 · 비교실험 · 오분류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005840"/>
            <a:ext cx="1234440" cy="114300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10K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rows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tabular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005840"/>
            <a:ext cx="1234440" cy="114300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3.39%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failure rate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imbalanced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005840"/>
            <a:ext cx="1234440" cy="114300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LGBM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best model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5-fold 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D3DB"/>
                </a:solidFill>
                <a:latin typeface="Arial"/>
              </a:rPr>
              <a:t>LG-inspired theme: LG Red · Charcoal · White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28600"/>
            <a:ext cx="475488" cy="475488"/>
          </a:xfrm>
          <a:prstGeom prst="ellipse">
            <a:avLst/>
          </a:prstGeom>
          <a:solidFill>
            <a:srgbClr val="A50034"/>
          </a:solidFill>
          <a:ln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LG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262626"/>
                </a:solidFill>
                <a:latin typeface="Arial"/>
              </a:rPr>
              <a:t>1. 데이터셋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5895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6666"/>
                </a:solidFill>
              </a:rPr>
              <a:t>무엇을 활용해 무엇을 예측하는가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Kaggle: shivamb/machine-predictive-maintenance-classification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  <a:latin typeface="Arial"/>
              </a:defRPr>
            </a:pPr>
            <a:r>
              <a:t>센서/운전 조건: 온도, 회전속도, 토크, 공구 마모, 제품 타입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  <a:latin typeface="Arial"/>
              </a:defRPr>
            </a:pPr>
            <a:r>
              <a:t>목표: 기계 고장 여부(Target=1)를 사전에 예측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  <a:latin typeface="Arial"/>
              </a:defRPr>
            </a:pPr>
            <a:r>
              <a:t>고장 유형(Failure Type)은 2차 분석용이며, 1차 모델 feature에서는 제외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  <a:latin typeface="Arial"/>
              </a:defRPr>
            </a:pPr>
            <a:r>
              <a:t>고장 비율이 3.39%라 accuracy보다 recall, F1, PR-AUC가 중요</a:t>
            </a:r>
          </a:p>
        </p:txBody>
      </p:sp>
      <p:pic>
        <p:nvPicPr>
          <p:cNvPr id="8" name="Picture 7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754880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4343400"/>
            <a:ext cx="1463040" cy="96012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8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features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engineered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4343400"/>
            <a:ext cx="1463040" cy="96012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binary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target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343400"/>
            <a:ext cx="1463040" cy="96012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27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mismatch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label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28600"/>
            <a:ext cx="475488" cy="475488"/>
          </a:xfrm>
          <a:prstGeom prst="ellipse">
            <a:avLst/>
          </a:prstGeom>
          <a:solidFill>
            <a:srgbClr val="A50034"/>
          </a:solidFill>
          <a:ln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LG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262626"/>
                </a:solidFill>
                <a:latin typeface="Arial"/>
              </a:rPr>
              <a:t>2. 실험 설계와 최고 성능 세팅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5895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6666"/>
                </a:solidFill>
              </a:rPr>
              <a:t>baseline에서 CV 비교실험으로 점진 강화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64008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7338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experiment_id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model_name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f1_mean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pr_auc_mean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recall_mean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exp017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hparam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exp008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sampling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0.813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0.873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0.808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exp006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exp013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outlier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0.801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0.860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0.805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exp014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6"/>
                          </a:solidFill>
                        </a:rPr>
                        <a:t>0.805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143000"/>
            <a:ext cx="1417320" cy="91440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exp017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Best exp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rank #1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143000"/>
            <a:ext cx="1417320" cy="91440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0.818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F1 mean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5-fold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0" y="1143000"/>
            <a:ext cx="1051560" cy="91440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0.859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PR-AUC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42316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t>Model: LightGBM tuned deeper</a:t>
            </a:r>
          </a:p>
          <a:p>
            <a:pPr>
              <a:spcAft>
                <a:spcPts val="5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t>Feature: all engineered features included</a:t>
            </a:r>
          </a:p>
          <a:p>
            <a:pPr>
              <a:spcAft>
                <a:spcPts val="5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t>Imbalance: scale_pos_weight 적용</a:t>
            </a:r>
          </a:p>
          <a:p>
            <a:pPr>
              <a:spcAft>
                <a:spcPts val="5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t>Missing: median/mode 기준, Outlier: 별도 clipping 없음</a:t>
            </a:r>
          </a:p>
          <a:p>
            <a:pPr>
              <a:spcAft>
                <a:spcPts val="5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t>핵심 해석: 복잡도를 늘리되 과도한 sampling보다 안정적 boosting이 유리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28600"/>
            <a:ext cx="475488" cy="475488"/>
          </a:xfrm>
          <a:prstGeom prst="ellipse">
            <a:avLst/>
          </a:prstGeom>
          <a:solidFill>
            <a:srgbClr val="A50034"/>
          </a:solidFill>
          <a:ln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LG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262626"/>
                </a:solidFill>
                <a:latin typeface="Arial"/>
              </a:rPr>
              <a:t>3. 모델이 중요하게 본 신호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5895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6666"/>
                </a:solidFill>
              </a:rPr>
              <a:t>부하, 마모, 회전 조건이 고장 리스크를 설명</a:t>
            </a:r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5486400" cy="3749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37960" y="1234440"/>
            <a:ext cx="1920240" cy="91440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999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Power proxy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importance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234440"/>
            <a:ext cx="1920240" cy="91440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913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Tool wear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importance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468880"/>
            <a:ext cx="1920240" cy="91440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789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RPM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importance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468880"/>
            <a:ext cx="1920240" cy="91440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697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Torque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importance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703320"/>
            <a:ext cx="1920240" cy="914400"/>
          </a:xfrm>
          <a:prstGeom prst="roundRect">
            <a:avLst/>
          </a:prstGeom>
          <a:solidFill>
            <a:srgbClr val="F7F4F4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592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Temp gap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029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Arial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49834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Arial"/>
              </a:rPr>
              <a:t>power_proxy와 공구마모가 상위 신호입니다. 단순 센서값보다 회전속도×토크 같은 조합 feature가 고장 위험을 더 잘 설명합니다.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28600"/>
            <a:ext cx="475488" cy="47548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A50034"/>
                </a:solidFill>
              </a:rPr>
              <a:t>LG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4. 그래도 모델이 놓치는 케이스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5895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F2D3DB"/>
                </a:solidFill>
              </a:rPr>
              <a:t>False Negative와 margin이 큰 오분류가 다음 개선 포인트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463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71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False Negative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missed failure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34440"/>
            <a:ext cx="1463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48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False Positive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false alarm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34440"/>
            <a:ext cx="1463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10,000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>OOF rows</a:t>
            </a:r>
          </a:p>
          <a:p>
            <a:pPr algn="ctr"/>
            <a:r>
              <a:rPr sz="850">
                <a:solidFill>
                  <a:srgbClr val="666666"/>
                </a:solidFill>
              </a:rPr>
              <a:t>5-fold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D3DB"/>
                </a:solidFill>
                <a:latin typeface="Arial"/>
              </a:rPr>
              <a:t>아쉽게 틀린 케이스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2880360"/>
          <a:ext cx="49377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285750">
                <a:tc>
                  <a:txBody>
                    <a:bodyPr/>
                    <a:lstStyle/>
                    <a:p>
                      <a:r>
                        <a:rPr b="1" sz="700">
                          <a:solidFill>
                            <a:srgbClr val="FFFFFF"/>
                          </a:solidFill>
                        </a:rPr>
                        <a:t>UDI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00">
                          <a:solidFill>
                            <a:srgbClr val="FFFFFF"/>
                          </a:solidFill>
                        </a:rPr>
                        <a:t>predicted_probability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00">
                          <a:solidFill>
                            <a:srgbClr val="FFFFFF"/>
                          </a:solidFill>
                        </a:rPr>
                        <a:t>Failure Type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5997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0.505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No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5063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0.508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No Failure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7757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0.471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Overstrain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D3DB"/>
                </a:solidFill>
                <a:latin typeface="Arial"/>
              </a:rPr>
              <a:t>고확신 오분류 케이스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55080" y="2880360"/>
          <a:ext cx="49377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285750">
                <a:tc>
                  <a:txBody>
                    <a:bodyPr/>
                    <a:lstStyle/>
                    <a:p>
                      <a:r>
                        <a:rPr b="1" sz="700">
                          <a:solidFill>
                            <a:srgbClr val="FFFFFF"/>
                          </a:solidFill>
                        </a:rPr>
                        <a:t>UDI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00">
                          <a:solidFill>
                            <a:srgbClr val="FFFFFF"/>
                          </a:solidFill>
                        </a:rPr>
                        <a:t>predicted_probability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00">
                          <a:solidFill>
                            <a:srgbClr val="FFFFFF"/>
                          </a:solidFill>
                        </a:rPr>
                        <a:t>Failure Type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1438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No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5942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No Failure</a:t>
                      </a:r>
                    </a:p>
                  </a:txBody>
                  <a:tcPr>
                    <a:solidFill>
                      <a:srgbClr val="F7F4F4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8112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6"/>
                          </a:solidFill>
                        </a:rPr>
                        <a:t>Tool Wear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2960" y="4892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D3DB"/>
                </a:solidFill>
                <a:latin typeface="Arial"/>
              </a:rPr>
              <a:t>Label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828032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Target과 Failure Type 간 불일치 27건은 라벨 정책 검토 대상입니다. 고장 미탐 비용이 크다면 threshold를 0.5보다 낮추는 비용 기반 최적화가 필요합니다.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28600"/>
            <a:ext cx="475488" cy="475488"/>
          </a:xfrm>
          <a:prstGeom prst="ellipse">
            <a:avLst/>
          </a:prstGeom>
          <a:solidFill>
            <a:srgbClr val="A50034"/>
          </a:solidFill>
          <a:ln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LG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262626"/>
                </a:solidFill>
                <a:latin typeface="Arial"/>
              </a:rPr>
              <a:t>5. 모델 고도화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5895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66666"/>
                </a:solidFill>
              </a:rPr>
              <a:t>오분류 분석을 운영 가능한 예지보전 정책으로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777240" cy="777240"/>
          </a:xfrm>
          <a:prstGeom prst="roundRect">
            <a:avLst/>
          </a:prstGeom>
          <a:solidFill>
            <a:srgbClr val="F2D3DB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01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50034"/>
                </a:solidFill>
                <a:latin typeface="Arial"/>
              </a:rPr>
              <a:t>Threshold 정책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7647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Arial"/>
              </a:rPr>
              <a:t>FN 비용을 크게 둔 cost-based threshold로 운영 리스크 최소화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777240" cy="777240"/>
          </a:xfrm>
          <a:prstGeom prst="roundRect">
            <a:avLst/>
          </a:prstGeom>
          <a:solidFill>
            <a:srgbClr val="F2D3DB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02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50034"/>
                </a:solidFill>
                <a:latin typeface="Arial"/>
              </a:rPr>
              <a:t>라벨 정책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7647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Arial"/>
              </a:rPr>
              <a:t>Target/Failure Type 불일치 27건을 제외·재라벨링·유지로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00400"/>
            <a:ext cx="777240" cy="777240"/>
          </a:xfrm>
          <a:prstGeom prst="roundRect">
            <a:avLst/>
          </a:prstGeom>
          <a:solidFill>
            <a:srgbClr val="F2D3DB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03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46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50034"/>
                </a:solidFill>
                <a:latin typeface="Arial"/>
              </a:rPr>
              <a:t>2단계 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63931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Arial"/>
              </a:rPr>
              <a:t>1단계 고장 여부, 2단계 고장 유형 분류로 목적 분리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777240" cy="777240"/>
          </a:xfrm>
          <a:prstGeom prst="roundRect">
            <a:avLst/>
          </a:prstGeom>
          <a:solidFill>
            <a:srgbClr val="F2D3DB"/>
          </a:solidFill>
          <a:ln>
            <a:solidFill>
              <a:srgbClr val="E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A50034"/>
                </a:solidFill>
              </a:rPr>
              <a:t>04</a:t>
            </a:r>
          </a:p>
          <a:p>
            <a:pPr algn="ctr"/>
            <a:r>
              <a:rPr sz="1100" b="1">
                <a:solidFill>
                  <a:srgbClr val="262626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246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50034"/>
                </a:solidFill>
                <a:latin typeface="Arial"/>
              </a:rPr>
              <a:t>반복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63931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Arial"/>
              </a:rPr>
              <a:t>Repeated CV와 OOF calibration으로 안정성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06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50034"/>
                </a:solidFill>
                <a:latin typeface="Arial"/>
              </a:rPr>
              <a:t>Key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760720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Arial"/>
              </a:rPr>
              <a:t>최고 모델은 이미 높은 F1을 보였지만, 실제 현장 적용은 False Negative 관리와 라벨 품질 검토가 성능 이상의 핵심입니다.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